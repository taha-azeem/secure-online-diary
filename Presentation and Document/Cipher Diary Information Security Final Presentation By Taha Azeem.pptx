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57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6034" y="365761"/>
            <a:ext cx="3840480" cy="3840480"/>
          </a:xfrm>
          <a:prstGeom prst="ellipse">
            <a:avLst/>
          </a:prstGeom>
          <a:solidFill>
            <a:srgbClr val="1C2942">
              <a:alpha val="65000"/>
            </a:srgbClr>
          </a:solidFill>
          <a:ln w="15875">
            <a:solidFill>
              <a:srgbClr val="1E9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54674" y="914401"/>
            <a:ext cx="2743200" cy="2743200"/>
          </a:xfrm>
          <a:prstGeom prst="ellipse">
            <a:avLst/>
          </a:prstGeom>
          <a:solidFill>
            <a:srgbClr val="161F35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57594" y="1417321"/>
            <a:ext cx="1737360" cy="1737360"/>
          </a:xfrm>
          <a:prstGeom prst="ellipse">
            <a:avLst/>
          </a:prstGeom>
          <a:solidFill>
            <a:srgbClr val="1C2942"/>
          </a:solidFill>
          <a:ln/>
          <a:effectLst>
            <a:outerShdw blurRad="228600" dist="50800" dir="16200000" algn="bl" rotWithShape="0">
              <a:srgbClr val="3DF0D1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934" y="1851661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5" y="4307619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500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CIPHER DIARY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305" y="501529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900" b="1" i="1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</a:t>
            </a:r>
            <a:r>
              <a:rPr lang="en-US" sz="19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Encrypted Diary Application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0" y="5408879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4430" y="603504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1C2942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78528" y="6035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Taha Azeem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Statement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regular diary app isn't good enough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3977640"/>
          </a:xfrm>
          <a:prstGeom prst="roundRect">
            <a:avLst>
              <a:gd name="adj" fmla="val 2299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2615184"/>
            <a:ext cx="365760" cy="36576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FF7A6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715768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5603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diary/note apps store entries as plain text in the database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68680" y="3392424"/>
            <a:ext cx="365760" cy="36576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FF7A6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49300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3375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database access — admins, hackers, insiders can read personal entries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68680" y="4169664"/>
            <a:ext cx="365760" cy="36576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FF7A6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27024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1148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breach instantly exposes every user's private thoughts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68680" y="4946904"/>
            <a:ext cx="365760" cy="36576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FF7A6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04748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8920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no real control over who can view their data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7086600" y="1874520"/>
            <a:ext cx="4553712" cy="3977640"/>
          </a:xfrm>
          <a:prstGeom prst="roundRect">
            <a:avLst>
              <a:gd name="adj" fmla="val 2759"/>
            </a:avLst>
          </a:prstGeom>
          <a:solidFill>
            <a:srgbClr val="1C2942"/>
          </a:solidFill>
          <a:ln/>
          <a:effectLst>
            <a:outerShdw blurRad="228600" dist="50800" dir="16200000" algn="bl" rotWithShape="0">
              <a:srgbClr val="3DF0D1">
                <a:alpha val="3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837676" y="2171700"/>
            <a:ext cx="1051560" cy="1051560"/>
          </a:xfrm>
          <a:prstGeom prst="ellipse">
            <a:avLst/>
          </a:prstGeom>
          <a:solidFill>
            <a:srgbClr val="161F35"/>
          </a:solidFill>
          <a:ln/>
          <a:effectLst>
            <a:outerShdw blurRad="228600" dist="50800" dir="16200000" algn="bl" rotWithShape="0">
              <a:srgbClr val="3DF0D1">
                <a:alpha val="3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0566" y="2434590"/>
            <a:ext cx="525780" cy="5257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7406640" y="38404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diary application where entries are encrypted before they ever leave the browser, so that even the service provider cannot read a single word.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7543800" y="5166360"/>
            <a:ext cx="3657600" cy="13716"/>
          </a:xfrm>
          <a:prstGeom prst="rect">
            <a:avLst/>
          </a:prstGeom>
          <a:solidFill>
            <a:srgbClr val="161F35"/>
          </a:solidFill>
          <a:ln/>
        </p:spPr>
      </p:sp>
      <p:sp>
        <p:nvSpPr>
          <p:cNvPr id="25" name="Text 18"/>
          <p:cNvSpPr/>
          <p:nvPr/>
        </p:nvSpPr>
        <p:spPr>
          <a:xfrm>
            <a:off x="7406640" y="5349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exactly what Cipher Diary solves.</a:t>
            </a: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CipherDiary Does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encrypted personal diary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21759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87" y="2345153"/>
            <a:ext cx="311810" cy="3118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" y="2217594"/>
            <a:ext cx="566928" cy="566928"/>
          </a:xfrm>
          <a:prstGeom prst="ellipse">
            <a:avLst/>
          </a:prstGeom>
          <a:ln w="19050">
            <a:solidFill>
              <a:srgbClr val="1E9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207568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63040" y="2339846"/>
            <a:ext cx="2587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Firebase Authentication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9120" y="1874520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221759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567" y="2345153"/>
            <a:ext cx="311810" cy="31181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36008" y="2217594"/>
            <a:ext cx="566928" cy="566928"/>
          </a:xfrm>
          <a:prstGeom prst="ellipse">
            <a:avLst/>
          </a:prstGeom>
          <a:ln w="19050">
            <a:solidFill>
              <a:srgbClr val="B26B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3520" y="207568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Private Entries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303520" y="2339846"/>
            <a:ext cx="2587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diary entries, fully yours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229600" y="1874520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76488" y="221759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047" y="2345153"/>
            <a:ext cx="311810" cy="31181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476488" y="2217594"/>
            <a:ext cx="566928" cy="566928"/>
          </a:xfrm>
          <a:prstGeom prst="ellipse">
            <a:avLst/>
          </a:prstGeom>
          <a:ln w="19050">
            <a:solidFill>
              <a:srgbClr val="1E9E8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4000" y="207568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Entries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144000" y="2339846"/>
            <a:ext cx="2587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before saving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48640" y="3593592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5528" y="393666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87" y="4064225"/>
            <a:ext cx="311810" cy="31181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95528" y="3936666"/>
            <a:ext cx="566928" cy="566928"/>
          </a:xfrm>
          <a:prstGeom prst="ellipse">
            <a:avLst/>
          </a:prstGeom>
          <a:ln w="19050">
            <a:solidFill>
              <a:srgbClr val="B26B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463040" y="379476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Key Access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1463040" y="4058918"/>
            <a:ext cx="2587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only with your secret key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4389120" y="3593592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36008" y="393666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567" y="4064225"/>
            <a:ext cx="311810" cy="31181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636008" y="3936666"/>
            <a:ext cx="566928" cy="566928"/>
          </a:xfrm>
          <a:prstGeom prst="ellipse">
            <a:avLst/>
          </a:prstGeom>
          <a:ln w="19050">
            <a:solidFill>
              <a:srgbClr val="1E9E8C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303520" y="379476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Delete Securely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5303520" y="3966798"/>
            <a:ext cx="2587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your data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8229600" y="3593592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476488" y="393666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047" y="4064225"/>
            <a:ext cx="311810" cy="31181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476488" y="3936666"/>
            <a:ext cx="566928" cy="566928"/>
          </a:xfrm>
          <a:prstGeom prst="ellipse">
            <a:avLst/>
          </a:prstGeom>
          <a:ln w="19050">
            <a:solidFill>
              <a:srgbClr val="B26BFF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9144000" y="379476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Storage</a:t>
            </a:r>
            <a:endParaRPr lang="en-US" sz="2000" dirty="0"/>
          </a:p>
        </p:txBody>
      </p:sp>
      <p:sp>
        <p:nvSpPr>
          <p:cNvPr id="40" name="Text 32"/>
          <p:cNvSpPr/>
          <p:nvPr/>
        </p:nvSpPr>
        <p:spPr>
          <a:xfrm>
            <a:off x="9144000" y="4058918"/>
            <a:ext cx="2587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cloud sync, encrypted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641777" y="5479627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A0F1E"/>
          </a:solidFill>
          <a:ln/>
          <a:effectLst>
            <a:outerShdw blurRad="228600" dist="50800" dir="16200000" algn="bl" rotWithShape="0">
              <a:srgbClr val="3DF0D1">
                <a:alpha val="35000"/>
              </a:srgbClr>
            </a:outerShdw>
          </a:effectLst>
        </p:spPr>
      </p:sp>
      <p:sp>
        <p:nvSpPr>
          <p:cNvPr id="42" name="Text 34"/>
          <p:cNvSpPr/>
          <p:nvPr/>
        </p:nvSpPr>
        <p:spPr>
          <a:xfrm>
            <a:off x="870377" y="5479627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thing:  </a:t>
            </a:r>
            <a:r>
              <a:rPr lang="en-US" sz="135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user can read the diary. Firebase cannot read it.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A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Zero-Knowledge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the entire project is built 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65930"/>
            <a:ext cx="128016" cy="128016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031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encrypted inside the user's browser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143170"/>
            <a:ext cx="128016" cy="128016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803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never goes to the server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3920410"/>
            <a:ext cx="128016" cy="128016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57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only stores encrypted text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1C294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36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B2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storing:  </a:t>
            </a: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 was amazing"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stores:  </a:t>
            </a:r>
            <a:r>
              <a:rPr lang="en-US" dirty="0">
                <a:solidFill>
                  <a:srgbClr val="3DF0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U2FsdGVkX1+9H3QqL9Pm...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001000" y="1737360"/>
            <a:ext cx="2468880" cy="2468880"/>
          </a:xfrm>
          <a:prstGeom prst="ellipse">
            <a:avLst/>
          </a:prstGeom>
          <a:solidFill>
            <a:srgbClr val="161F35"/>
          </a:solidFill>
          <a:ln/>
          <a:effectLst>
            <a:outerShdw blurRad="228600" dist="50800" dir="16200000" algn="bl" rotWithShape="0">
              <a:srgbClr val="B26BFF">
                <a:alpha val="35000"/>
              </a:srgbClr>
            </a:outerShdw>
          </a:effectLst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220" y="2354580"/>
            <a:ext cx="1234440" cy="12344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818120" y="1554480"/>
            <a:ext cx="2834640" cy="2834640"/>
          </a:xfrm>
          <a:prstGeom prst="ellipse">
            <a:avLst/>
          </a:prstGeom>
          <a:ln w="15875">
            <a:solidFill>
              <a:srgbClr val="1E9E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44348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database is hacked,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still cannot read anything.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Technologies And Security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1933110" y="1540087"/>
            <a:ext cx="3639312" cy="4709160"/>
          </a:xfrm>
          <a:prstGeom prst="roundRect">
            <a:avLst>
              <a:gd name="adj" fmla="val 3015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77278" y="1897380"/>
            <a:ext cx="950976" cy="950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6B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158" y="2080260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33110" y="2994660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2344590" y="3634740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SzPct val="100000"/>
            </a:pPr>
            <a:r>
              <a:rPr lang="en-US" sz="20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344590" y="4201668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SzPct val="100000"/>
            </a:pPr>
            <a:r>
              <a:rPr lang="en-US" sz="20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Database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620250" y="1523153"/>
            <a:ext cx="3639312" cy="4709160"/>
          </a:xfrm>
          <a:prstGeom prst="roundRect">
            <a:avLst>
              <a:gd name="adj" fmla="val 3015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64418" y="1888913"/>
            <a:ext cx="950976" cy="950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9E8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298" y="2071793"/>
            <a:ext cx="585216" cy="5852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0250" y="2986193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7031730" y="3626273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SzPct val="100000"/>
            </a:pPr>
            <a:r>
              <a:rPr lang="en-US" sz="20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7031730" y="4193201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SzPct val="100000"/>
            </a:pPr>
            <a:r>
              <a:rPr lang="en-US" sz="20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Key Generation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7031730" y="4760129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SzPct val="100000"/>
            </a:pPr>
            <a:r>
              <a:rPr lang="en-US" sz="20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IV Generation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A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Entities &amp; Attributes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collections that power CipherDiary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39312" cy="2377440"/>
          </a:xfrm>
          <a:prstGeom prst="roundRect">
            <a:avLst>
              <a:gd name="adj" fmla="val 3846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639312" cy="731520"/>
          </a:xfrm>
          <a:prstGeom prst="roundRect">
            <a:avLst>
              <a:gd name="adj" fmla="val 12500"/>
            </a:avLst>
          </a:prstGeom>
          <a:solidFill>
            <a:srgbClr val="0D152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3639312" cy="3657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828800"/>
            <a:ext cx="457200" cy="45720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9385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691640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41248" y="242316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32227" y="2423160"/>
            <a:ext cx="1163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B2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41248" y="278892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278892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1248" y="315468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315468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displayName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41248" y="352044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352044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89120" y="1691640"/>
            <a:ext cx="3639312" cy="3840480"/>
          </a:xfrm>
          <a:prstGeom prst="roundRect">
            <a:avLst>
              <a:gd name="adj" fmla="val 2513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0" y="1691640"/>
            <a:ext cx="3639312" cy="731520"/>
          </a:xfrm>
          <a:prstGeom prst="roundRect">
            <a:avLst>
              <a:gd name="adj" fmla="val 12500"/>
            </a:avLst>
          </a:prstGeom>
          <a:solidFill>
            <a:srgbClr val="0D1526"/>
          </a:solidFill>
          <a:ln/>
        </p:spPr>
      </p:sp>
      <p:sp>
        <p:nvSpPr>
          <p:cNvPr id="21" name="Shape 18"/>
          <p:cNvSpPr/>
          <p:nvPr/>
        </p:nvSpPr>
        <p:spPr>
          <a:xfrm>
            <a:off x="4389120" y="2057400"/>
            <a:ext cx="3639312" cy="3657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2" name="Shape 19"/>
          <p:cNvSpPr/>
          <p:nvPr/>
        </p:nvSpPr>
        <p:spPr>
          <a:xfrm>
            <a:off x="4626864" y="1828800"/>
            <a:ext cx="457200" cy="45720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1E9E8C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93852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0368" y="1691640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DiaryEntries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4681728" y="242316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entryId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72707" y="2423160"/>
            <a:ext cx="1163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1E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681728" y="278892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28" name="Text 24"/>
          <p:cNvSpPr/>
          <p:nvPr/>
        </p:nvSpPr>
        <p:spPr>
          <a:xfrm>
            <a:off x="4681728" y="278892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ownerId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572707" y="2788920"/>
            <a:ext cx="1163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681728" y="315468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31" name="Text 27"/>
          <p:cNvSpPr/>
          <p:nvPr/>
        </p:nvSpPr>
        <p:spPr>
          <a:xfrm>
            <a:off x="4681728" y="315468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titleEncrypted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681728" y="352044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33" name="Text 29"/>
          <p:cNvSpPr/>
          <p:nvPr/>
        </p:nvSpPr>
        <p:spPr>
          <a:xfrm>
            <a:off x="4681728" y="352044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contentEncrypted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681728" y="388620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35" name="Text 31"/>
          <p:cNvSpPr/>
          <p:nvPr/>
        </p:nvSpPr>
        <p:spPr>
          <a:xfrm>
            <a:off x="4681728" y="388620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681728" y="425196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37" name="Text 33"/>
          <p:cNvSpPr/>
          <p:nvPr/>
        </p:nvSpPr>
        <p:spPr>
          <a:xfrm>
            <a:off x="4681728" y="425196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681728" y="461772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39" name="Text 35"/>
          <p:cNvSpPr/>
          <p:nvPr/>
        </p:nvSpPr>
        <p:spPr>
          <a:xfrm>
            <a:off x="4681728" y="461772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681728" y="498348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41" name="Text 37"/>
          <p:cNvSpPr/>
          <p:nvPr/>
        </p:nvSpPr>
        <p:spPr>
          <a:xfrm>
            <a:off x="4681728" y="498348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updatedAt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8229600" y="1691640"/>
            <a:ext cx="3639312" cy="274320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8229600" y="1691640"/>
            <a:ext cx="3639312" cy="731520"/>
          </a:xfrm>
          <a:prstGeom prst="roundRect">
            <a:avLst>
              <a:gd name="adj" fmla="val 12500"/>
            </a:avLst>
          </a:prstGeom>
          <a:solidFill>
            <a:srgbClr val="0D1526"/>
          </a:solidFill>
          <a:ln/>
        </p:spPr>
      </p:sp>
      <p:sp>
        <p:nvSpPr>
          <p:cNvPr id="44" name="Shape 40"/>
          <p:cNvSpPr/>
          <p:nvPr/>
        </p:nvSpPr>
        <p:spPr>
          <a:xfrm>
            <a:off x="8229600" y="2057400"/>
            <a:ext cx="3639312" cy="3657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5" name="Shape 41"/>
          <p:cNvSpPr/>
          <p:nvPr/>
        </p:nvSpPr>
        <p:spPr>
          <a:xfrm>
            <a:off x="8467344" y="1828800"/>
            <a:ext cx="457200" cy="45720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1938528"/>
            <a:ext cx="237744" cy="23774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070848" y="1691640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ActivityLogs</a:t>
            </a:r>
            <a:endParaRPr lang="en-US" sz="2000" dirty="0"/>
          </a:p>
        </p:txBody>
      </p:sp>
      <p:sp>
        <p:nvSpPr>
          <p:cNvPr id="48" name="Text 43"/>
          <p:cNvSpPr/>
          <p:nvPr/>
        </p:nvSpPr>
        <p:spPr>
          <a:xfrm>
            <a:off x="8522208" y="242316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logId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10413187" y="2423160"/>
            <a:ext cx="1163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B2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8522208" y="278892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51" name="Text 46"/>
          <p:cNvSpPr/>
          <p:nvPr/>
        </p:nvSpPr>
        <p:spPr>
          <a:xfrm>
            <a:off x="8522208" y="278892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10413187" y="2788920"/>
            <a:ext cx="1163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8522208" y="315468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54" name="Text 49"/>
          <p:cNvSpPr/>
          <p:nvPr/>
        </p:nvSpPr>
        <p:spPr>
          <a:xfrm>
            <a:off x="8522208" y="315468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050" dirty="0"/>
          </a:p>
        </p:txBody>
      </p:sp>
      <p:sp>
        <p:nvSpPr>
          <p:cNvPr id="55" name="Shape 50"/>
          <p:cNvSpPr/>
          <p:nvPr/>
        </p:nvSpPr>
        <p:spPr>
          <a:xfrm>
            <a:off x="8522208" y="352044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56" name="Text 51"/>
          <p:cNvSpPr/>
          <p:nvPr/>
        </p:nvSpPr>
        <p:spPr>
          <a:xfrm>
            <a:off x="8522208" y="352044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8522208" y="3886200"/>
            <a:ext cx="3054096" cy="7315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58" name="Text 53"/>
          <p:cNvSpPr/>
          <p:nvPr/>
        </p:nvSpPr>
        <p:spPr>
          <a:xfrm>
            <a:off x="8522208" y="3886200"/>
            <a:ext cx="21835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557107" y="5692983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A0F1E"/>
          </a:solidFill>
          <a:ln/>
        </p:spPr>
      </p:sp>
      <p:sp>
        <p:nvSpPr>
          <p:cNvPr id="60" name="Text 55"/>
          <p:cNvSpPr/>
          <p:nvPr/>
        </p:nvSpPr>
        <p:spPr>
          <a:xfrm>
            <a:off x="785707" y="5692983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 </a:t>
            </a:r>
            <a:r>
              <a:rPr lang="en-US" sz="130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→ Many DiaryEntries → Many ActivityLogs (1:N:N)</a:t>
            </a:r>
            <a:endParaRPr lang="en-US" sz="1300" dirty="0"/>
          </a:p>
        </p:txBody>
      </p:sp>
      <p:sp>
        <p:nvSpPr>
          <p:cNvPr id="61" name="Text 56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2" name="Text 57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A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 of a diary entry through CipherDiary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29968"/>
            <a:ext cx="548640" cy="54864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3DF0D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48840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730752" y="1993392"/>
            <a:ext cx="292608" cy="292608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9" name="Text 6"/>
          <p:cNvSpPr/>
          <p:nvPr/>
        </p:nvSpPr>
        <p:spPr>
          <a:xfrm>
            <a:off x="3730752" y="1993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2748281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31520" y="2843098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verifies the user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0288" y="2029968"/>
            <a:ext cx="548640" cy="54864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148840"/>
            <a:ext cx="310896" cy="3108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571232" y="1993392"/>
            <a:ext cx="292608" cy="292608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16" name="Text 12"/>
          <p:cNvSpPr/>
          <p:nvPr/>
        </p:nvSpPr>
        <p:spPr>
          <a:xfrm>
            <a:off x="7571232" y="1993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0" y="2748281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Vault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72000" y="2843098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vault key for the session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229600" y="182880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30768" y="2029968"/>
            <a:ext cx="548640" cy="54864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3DF0D1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2148840"/>
            <a:ext cx="310896" cy="31089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1411712" y="1993392"/>
            <a:ext cx="292608" cy="292608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23" name="Text 18"/>
          <p:cNvSpPr/>
          <p:nvPr/>
        </p:nvSpPr>
        <p:spPr>
          <a:xfrm>
            <a:off x="11411712" y="1993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412480" y="2748281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Entry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8412480" y="2936235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composes a diary entry in the browser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405079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51960"/>
            <a:ext cx="548640" cy="54864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70832"/>
            <a:ext cx="310896" cy="31089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730752" y="4215384"/>
            <a:ext cx="292608" cy="292608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30" name="Text 24"/>
          <p:cNvSpPr/>
          <p:nvPr/>
        </p:nvSpPr>
        <p:spPr>
          <a:xfrm>
            <a:off x="3730752" y="4215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31520" y="4970273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Locally</a:t>
            </a: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31520" y="5065090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PBKDF2 encrypt it client-side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389120" y="405079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90288" y="4251960"/>
            <a:ext cx="548640" cy="54864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3DF0D1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370832"/>
            <a:ext cx="310896" cy="310896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571232" y="4215384"/>
            <a:ext cx="292608" cy="292608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37" name="Text 30"/>
          <p:cNvSpPr/>
          <p:nvPr/>
        </p:nvSpPr>
        <p:spPr>
          <a:xfrm>
            <a:off x="7571232" y="4215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4572000" y="4970273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 Firestore</a:t>
            </a: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4572000" y="5065090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ciphertext, salt &amp; IV are stored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8229600" y="405079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430768" y="4251960"/>
            <a:ext cx="548640" cy="54864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4370832"/>
            <a:ext cx="310896" cy="310896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1411712" y="4215384"/>
            <a:ext cx="292608" cy="292608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44" name="Text 36"/>
          <p:cNvSpPr/>
          <p:nvPr/>
        </p:nvSpPr>
        <p:spPr>
          <a:xfrm>
            <a:off x="11411712" y="4215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8412480" y="4970273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on View</a:t>
            </a: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8412480" y="5158227"/>
            <a:ext cx="3273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key regenerates the AES key to read it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Encryption Works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vault password to encrypted storage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0140" y="2221992"/>
            <a:ext cx="731520" cy="73152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1E9E8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2368296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39112" y="2020824"/>
            <a:ext cx="310896" cy="310896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9" name="Text 6"/>
          <p:cNvSpPr/>
          <p:nvPr/>
        </p:nvSpPr>
        <p:spPr>
          <a:xfrm>
            <a:off x="2039112" y="2020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Password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8368" y="3237650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key entered by user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23160" y="3131820"/>
            <a:ext cx="430454" cy="0"/>
          </a:xfrm>
          <a:prstGeom prst="line">
            <a:avLst/>
          </a:prstGeom>
          <a:noFill/>
          <a:ln w="25400">
            <a:solidFill>
              <a:srgbClr val="3DF0D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53614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5114" y="2221992"/>
            <a:ext cx="731520" cy="73152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418" y="2368296"/>
            <a:ext cx="438912" cy="4389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344086" y="2020824"/>
            <a:ext cx="310896" cy="310896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17" name="Text 13"/>
          <p:cNvSpPr/>
          <p:nvPr/>
        </p:nvSpPr>
        <p:spPr>
          <a:xfrm>
            <a:off x="4344086" y="2020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945054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963342" y="3186853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a strong key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728134" y="3131820"/>
            <a:ext cx="430454" cy="0"/>
          </a:xfrm>
          <a:prstGeom prst="line">
            <a:avLst/>
          </a:prstGeom>
          <a:noFill/>
          <a:ln w="25400">
            <a:solidFill>
              <a:srgbClr val="3DF0D1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158588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30088" y="2221992"/>
            <a:ext cx="731520" cy="73152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1E9E8C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392" y="2368296"/>
            <a:ext cx="438912" cy="43891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649060" y="2020824"/>
            <a:ext cx="310896" cy="310896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25" name="Text 20"/>
          <p:cNvSpPr/>
          <p:nvPr/>
        </p:nvSpPr>
        <p:spPr>
          <a:xfrm>
            <a:off x="6649060" y="2020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250028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Key</a:t>
            </a: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5268316" y="3237650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cryptographic key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7033108" y="3131820"/>
            <a:ext cx="430454" cy="0"/>
          </a:xfrm>
          <a:prstGeom prst="line">
            <a:avLst/>
          </a:prstGeom>
          <a:noFill/>
          <a:ln w="25400">
            <a:solidFill>
              <a:srgbClr val="3DF0D1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463561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35061" y="2221992"/>
            <a:ext cx="731520" cy="73152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1365" y="2368296"/>
            <a:ext cx="438912" cy="43891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8954033" y="2020824"/>
            <a:ext cx="310896" cy="310896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33" name="Text 27"/>
          <p:cNvSpPr/>
          <p:nvPr/>
        </p:nvSpPr>
        <p:spPr>
          <a:xfrm>
            <a:off x="8954033" y="2020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555001" y="3059855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7573289" y="3440852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becomes ciphertext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9338081" y="3131820"/>
            <a:ext cx="430454" cy="0"/>
          </a:xfrm>
          <a:prstGeom prst="line">
            <a:avLst/>
          </a:prstGeom>
          <a:noFill/>
          <a:ln w="25400">
            <a:solidFill>
              <a:srgbClr val="3DF0D1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9768535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340035" y="2221992"/>
            <a:ext cx="731520" cy="73152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1E9E8C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6339" y="2368296"/>
            <a:ext cx="438912" cy="438912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11259007" y="2020824"/>
            <a:ext cx="310896" cy="310896"/>
          </a:xfrm>
          <a:prstGeom prst="ellipse">
            <a:avLst/>
          </a:prstGeom>
          <a:solidFill>
            <a:srgbClr val="3DF0D1"/>
          </a:solidFill>
          <a:ln/>
        </p:spPr>
      </p:sp>
      <p:sp>
        <p:nvSpPr>
          <p:cNvPr id="41" name="Text 34"/>
          <p:cNvSpPr/>
          <p:nvPr/>
        </p:nvSpPr>
        <p:spPr>
          <a:xfrm>
            <a:off x="11259007" y="2020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9859975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Storage</a:t>
            </a: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9878263" y="3406984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encrypted data saved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becomes cipher text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548640" y="49834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C2942"/>
          </a:solidFill>
          <a:ln/>
        </p:spPr>
      </p:sp>
      <p:sp>
        <p:nvSpPr>
          <p:cNvPr id="46" name="Text 39"/>
          <p:cNvSpPr/>
          <p:nvPr/>
        </p:nvSpPr>
        <p:spPr>
          <a:xfrm>
            <a:off x="822960" y="520531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stores: </a:t>
            </a:r>
            <a:r>
              <a:rPr lang="en-US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ownerId, titleEncrypted, contentEncrypted, salt, iv, timestamps….</a:t>
            </a: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822960" y="566251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stored: </a:t>
            </a:r>
            <a:r>
              <a:rPr lang="en-US" dirty="0">
                <a:solidFill>
                  <a:srgbClr val="FF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diary text, vault password, or the decryption key</a:t>
            </a: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ALGORITHM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 Encryption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convert diary content into ciphertext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3166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9E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187113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Algorithm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2286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used for encryption and decryption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85800" y="303750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6BF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192953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Key Length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417320" y="3291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is impractical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85800" y="404334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9E8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198793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Rounds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417320" y="4297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SubBytes, ShiftRows, MixColumns, AddRoundKey</a:t>
            </a: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685800" y="504918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6BF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204633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937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417320" y="5303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banks, governments, VPNs, military systems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7040880" y="1600200"/>
            <a:ext cx="4553712" cy="3931920"/>
          </a:xfrm>
          <a:prstGeom prst="roundRect">
            <a:avLst>
              <a:gd name="adj" fmla="val 2410"/>
            </a:avLst>
          </a:prstGeom>
          <a:solidFill>
            <a:srgbClr val="0A0F1E"/>
          </a:solidFill>
          <a:ln/>
          <a:effectLst>
            <a:outerShdw blurRad="228600" dist="50800" dir="16200000" algn="bl" rotWithShape="0">
              <a:srgbClr val="3DF0D1">
                <a:alpha val="3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360920" y="18105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B2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21488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was amazing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961120" y="3291840"/>
            <a:ext cx="640080" cy="640080"/>
          </a:xfrm>
          <a:prstGeom prst="ellipse">
            <a:avLst/>
          </a:prstGeom>
          <a:solidFill>
            <a:srgbClr val="161F35"/>
          </a:solidFill>
          <a:ln w="15875">
            <a:solidFill>
              <a:srgbClr val="3DF0D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343814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41605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DF0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U2FsdGVkX1+9H3QqL9Pm...</a:t>
            </a:r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7360920" y="5120640"/>
            <a:ext cx="3977640" cy="13716"/>
          </a:xfrm>
          <a:prstGeom prst="rect">
            <a:avLst/>
          </a:prstGeom>
          <a:solidFill>
            <a:srgbClr val="1C2942"/>
          </a:solidFill>
          <a:ln/>
        </p:spPr>
      </p:sp>
      <p:sp>
        <p:nvSpPr>
          <p:cNvPr id="30" name="Text 23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A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PBKDF2 Key Derivation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weak human password into a strong cryptographic key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4460" y="1993392"/>
            <a:ext cx="640080" cy="64008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620" y="21305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5800" y="2919306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MySecretPassword123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54680" y="173736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00500" y="1993392"/>
            <a:ext cx="640080" cy="64008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0" y="21305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Salt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291840" y="2919306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128-bit, unique per entry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760720" y="173736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06540" y="1993392"/>
            <a:ext cx="640080" cy="640080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0" y="21305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5216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897880" y="2919306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hashing rounds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138160" y="2651760"/>
            <a:ext cx="594360" cy="0"/>
          </a:xfrm>
          <a:prstGeom prst="line">
            <a:avLst/>
          </a:prstGeom>
          <a:noFill/>
          <a:ln w="28575">
            <a:solidFill>
              <a:srgbClr val="3DF0D1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8686800" y="1508760"/>
            <a:ext cx="2956255" cy="2286000"/>
          </a:xfrm>
          <a:prstGeom prst="roundRect">
            <a:avLst>
              <a:gd name="adj" fmla="val 4000"/>
            </a:avLst>
          </a:prstGeom>
          <a:solidFill>
            <a:srgbClr val="1C2942"/>
          </a:solidFill>
          <a:ln/>
          <a:effectLst>
            <a:outerShdw blurRad="228600" dist="50800" dir="16200000" algn="bl" rotWithShape="0">
              <a:srgbClr val="3DF0D1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052560" y="2286000"/>
            <a:ext cx="731520" cy="731520"/>
          </a:xfrm>
          <a:prstGeom prst="ellipse">
            <a:avLst/>
          </a:prstGeom>
          <a:solidFill>
            <a:srgbClr val="161F35"/>
          </a:solidFill>
          <a:ln w="19050">
            <a:solidFill>
              <a:srgbClr val="3DF0D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4688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966960" y="2038774"/>
            <a:ext cx="1584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AES Key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966960" y="2404534"/>
            <a:ext cx="1584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F0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A7F4C2B8D9E1...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966960" y="2816014"/>
            <a:ext cx="1584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becomes the AES-256 encryption key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3977640"/>
            <a:ext cx="11091672" cy="18288"/>
          </a:xfrm>
          <a:prstGeom prst="rect">
            <a:avLst/>
          </a:prstGeom>
          <a:solidFill>
            <a:srgbClr val="1C2942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2807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PBKDF2 is Needed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640080" y="4692228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pick weak passwords (hello123, taha123)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strengthens them into a secure key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iterations = harder to brute-force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Features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protection built into CipherDiary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39312" cy="2103120"/>
          </a:xfrm>
          <a:prstGeom prst="roundRect">
            <a:avLst>
              <a:gd name="adj" fmla="val 434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9968" y="1965960"/>
            <a:ext cx="676656" cy="676656"/>
          </a:xfrm>
          <a:prstGeom prst="ellipse">
            <a:avLst/>
          </a:prstGeom>
          <a:solidFill>
            <a:srgbClr val="1C2942"/>
          </a:solidFill>
          <a:ln w="15875">
            <a:solidFill>
              <a:srgbClr val="3DF0D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272" y="211226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43200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System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934544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never sees plain text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639312" cy="2103120"/>
          </a:xfrm>
          <a:prstGeom prst="roundRect">
            <a:avLst>
              <a:gd name="adj" fmla="val 434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70448" y="1965960"/>
            <a:ext cx="676656" cy="676656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21122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743200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Security Rules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17720" y="2934544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access only their own entries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229600" y="1737360"/>
            <a:ext cx="3639312" cy="2103120"/>
          </a:xfrm>
          <a:prstGeom prst="roundRect">
            <a:avLst>
              <a:gd name="adj" fmla="val 434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710928" y="1965960"/>
            <a:ext cx="676656" cy="676656"/>
          </a:xfrm>
          <a:prstGeom prst="ellipse">
            <a:avLst/>
          </a:prstGeom>
          <a:solidFill>
            <a:srgbClr val="1C2942"/>
          </a:solidFill>
          <a:ln w="15875">
            <a:solidFill>
              <a:srgbClr val="3DF0D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2" y="211226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743200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58200" y="2993813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logins, creation, deletion, suspicious actions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368976" y="4096512"/>
            <a:ext cx="3639312" cy="2103120"/>
          </a:xfrm>
          <a:prstGeom prst="roundRect">
            <a:avLst>
              <a:gd name="adj" fmla="val 434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50304" y="4325112"/>
            <a:ext cx="676656" cy="676656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6608" y="447141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06136" y="5102352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Vault Key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2597576" y="5293696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temporarily, removed on logout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206060" y="4096512"/>
            <a:ext cx="3639312" cy="2103120"/>
          </a:xfrm>
          <a:prstGeom prst="roundRect">
            <a:avLst>
              <a:gd name="adj" fmla="val 4348"/>
            </a:avLst>
          </a:prstGeom>
          <a:solidFill>
            <a:srgbClr val="161F35"/>
          </a:solidFill>
          <a:ln w="12700">
            <a:solidFill>
              <a:srgbClr val="1C294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687388" y="4325112"/>
            <a:ext cx="676656" cy="676656"/>
          </a:xfrm>
          <a:prstGeom prst="ellipse">
            <a:avLst/>
          </a:prstGeom>
          <a:solidFill>
            <a:srgbClr val="1C2942"/>
          </a:solidFill>
          <a:ln w="15875">
            <a:solidFill>
              <a:srgbClr val="B26BFF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3692" y="447141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43220" y="5102352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6434660" y="5293696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protected data at rest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CipherDiary demonstrates and where it can go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3F6FB"/>
          </a:solidFill>
          <a:ln/>
          <a:effectLst>
            <a:outerShdw blurRad="127000" dist="381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29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743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9E8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284378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974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design keeps user data private by architecture, not policy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68680" y="35661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6BF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66674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PBKDF2 provide strong, industry-standard protection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68680" y="43891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9E8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489704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343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enables real-time sync without sacrificing security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68680" y="52120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6BFF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312664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1663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6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application of core Information Security concepts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6217920" y="1783080"/>
            <a:ext cx="5422392" cy="4526280"/>
          </a:xfrm>
          <a:prstGeom prst="roundRect">
            <a:avLst>
              <a:gd name="adj" fmla="val 2424"/>
            </a:avLst>
          </a:prstGeom>
          <a:solidFill>
            <a:srgbClr val="0A0F1E"/>
          </a:solidFill>
          <a:ln/>
          <a:effectLst>
            <a:outerShdw blurRad="228600" dist="50800" dir="16200000" algn="bl" rotWithShape="0">
              <a:srgbClr val="B26BFF">
                <a:alpha val="35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01168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32320" y="2029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23" name="Shape 15"/>
          <p:cNvSpPr/>
          <p:nvPr/>
        </p:nvSpPr>
        <p:spPr>
          <a:xfrm>
            <a:off x="6537960" y="2743200"/>
            <a:ext cx="365760" cy="365760"/>
          </a:xfrm>
          <a:prstGeom prst="ellipse">
            <a:avLst/>
          </a:prstGeom>
          <a:solidFill>
            <a:srgbClr val="1C2942"/>
          </a:solidFill>
          <a:ln w="19050">
            <a:solidFill>
              <a:srgbClr val="3DF0D1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843784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40880" y="26974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unlock (fingerprint/Face ID) for the vault key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6537960" y="3566160"/>
            <a:ext cx="365760" cy="365760"/>
          </a:xfrm>
          <a:prstGeom prst="ellipse">
            <a:avLst/>
          </a:prstGeom>
          <a:solidFill>
            <a:srgbClr val="1C2942"/>
          </a:solidFill>
          <a:ln w="19050">
            <a:solidFill>
              <a:srgbClr val="3DF0D1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666744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04088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media attachments (photos, voice notes)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537960" y="4389120"/>
            <a:ext cx="365760" cy="365760"/>
          </a:xfrm>
          <a:prstGeom prst="ellipse">
            <a:avLst/>
          </a:prstGeom>
          <a:solidFill>
            <a:srgbClr val="1C2942"/>
          </a:solidFill>
          <a:ln w="19050">
            <a:solidFill>
              <a:srgbClr val="3DF0D1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489704"/>
            <a:ext cx="164592" cy="16459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040880" y="4343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vault key recovery via secure passphrase backup</a:t>
            </a:r>
            <a:endParaRPr lang="en-US" sz="1600" dirty="0"/>
          </a:p>
        </p:txBody>
      </p:sp>
      <p:sp>
        <p:nvSpPr>
          <p:cNvPr id="32" name="Shape 21"/>
          <p:cNvSpPr/>
          <p:nvPr/>
        </p:nvSpPr>
        <p:spPr>
          <a:xfrm>
            <a:off x="6537960" y="5212080"/>
            <a:ext cx="365760" cy="365760"/>
          </a:xfrm>
          <a:prstGeom prst="ellipse">
            <a:avLst/>
          </a:prstGeom>
          <a:solidFill>
            <a:srgbClr val="1C2942"/>
          </a:solidFill>
          <a:ln w="19050">
            <a:solidFill>
              <a:srgbClr val="3DF0D1"/>
            </a:solidFill>
            <a:prstDash val="solid"/>
          </a:ln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5312664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040880" y="5234096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Exportable, still-encrypted offline backups</a:t>
            </a:r>
            <a:endParaRPr lang="en-US" sz="1600" dirty="0"/>
          </a:p>
        </p:txBody>
      </p:sp>
      <p:sp>
        <p:nvSpPr>
          <p:cNvPr id="35" name="Text 23"/>
          <p:cNvSpPr/>
          <p:nvPr/>
        </p:nvSpPr>
        <p:spPr>
          <a:xfrm>
            <a:off x="11505895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36" name="Text 24"/>
          <p:cNvSpPr/>
          <p:nvPr/>
        </p:nvSpPr>
        <p:spPr>
          <a:xfrm>
            <a:off x="5486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A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CipherDiary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05" y="410337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3DF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47800" y="417195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CipherDiary encrypts diary data using AES-256 and PBKDF2 before storing it in Firebase — ensuring only the user can ever decrypt and read it.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0" y="53949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Azeem  | Information Security</a:t>
            </a:r>
            <a:endParaRPr lang="en-US" sz="120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0C22B31-1E08-A0C3-419D-57BF5A7CC83E}"/>
              </a:ext>
            </a:extLst>
          </p:cNvPr>
          <p:cNvSpPr/>
          <p:nvPr/>
        </p:nvSpPr>
        <p:spPr>
          <a:xfrm>
            <a:off x="4106034" y="171450"/>
            <a:ext cx="3840480" cy="3840480"/>
          </a:xfrm>
          <a:prstGeom prst="ellipse">
            <a:avLst/>
          </a:prstGeom>
          <a:solidFill>
            <a:srgbClr val="1C2942">
              <a:alpha val="65000"/>
            </a:srgbClr>
          </a:solidFill>
          <a:ln w="15875">
            <a:solidFill>
              <a:srgbClr val="1E9E8C"/>
            </a:solidFill>
            <a:prstDash val="solid"/>
          </a:ln>
        </p:spPr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9065C0E0-A17B-F89E-3711-374A881403B3}"/>
              </a:ext>
            </a:extLst>
          </p:cNvPr>
          <p:cNvSpPr/>
          <p:nvPr/>
        </p:nvSpPr>
        <p:spPr>
          <a:xfrm>
            <a:off x="4654674" y="720090"/>
            <a:ext cx="2743200" cy="2743200"/>
          </a:xfrm>
          <a:prstGeom prst="ellipse">
            <a:avLst/>
          </a:prstGeom>
          <a:solidFill>
            <a:srgbClr val="161F35">
              <a:alpha val="90000"/>
            </a:srgbClr>
          </a:solidFill>
          <a:ln/>
        </p:spPr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97F7D09-A6BD-B944-3165-AB61B635E50B}"/>
              </a:ext>
            </a:extLst>
          </p:cNvPr>
          <p:cNvSpPr/>
          <p:nvPr/>
        </p:nvSpPr>
        <p:spPr>
          <a:xfrm>
            <a:off x="5157594" y="1223010"/>
            <a:ext cx="1737360" cy="1737360"/>
          </a:xfrm>
          <a:prstGeom prst="ellipse">
            <a:avLst/>
          </a:prstGeom>
          <a:solidFill>
            <a:srgbClr val="1C2942"/>
          </a:solidFill>
          <a:ln/>
          <a:effectLst>
            <a:outerShdw blurRad="228600" dist="50800" dir="16200000" algn="bl" rotWithShape="0">
              <a:srgbClr val="3DF0D1">
                <a:alpha val="35000"/>
              </a:srgbClr>
            </a:outerShdw>
          </a:effectLst>
        </p:spPr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9AB46934-FB86-5799-C4D7-F691836B1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934" y="165735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809</Words>
  <Application>Microsoft Office PowerPoint</Application>
  <PresentationFormat>Widescreen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CipherDiary - Zero-Knowledge Encrypted Diary</dc:title>
  <dc:subject>PptxGenJS Presentation</dc:subject>
  <dc:creator>Taha Azeem</dc:creator>
  <cp:lastModifiedBy>Taha Azeem F24-BSIT-0025</cp:lastModifiedBy>
  <cp:revision>7</cp:revision>
  <dcterms:created xsi:type="dcterms:W3CDTF">2026-07-07T10:13:44Z</dcterms:created>
  <dcterms:modified xsi:type="dcterms:W3CDTF">2026-07-07T16:45:35Z</dcterms:modified>
</cp:coreProperties>
</file>